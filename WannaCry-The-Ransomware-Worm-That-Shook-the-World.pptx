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embeddedFontLst>
    <p:embeddedFont>
      <p:font typeface="Dela Gothic One"/>
      <p:regular r:id="rId201314"/>
    </p:embeddedFont>
    <p:embeddedFont>
      <p:font typeface="DM Sans"/>
      <p:regular r:id="rId201315"/>
    </p:embeddedFont>
    <p:embeddedFont>
      <p:font typeface="DM Sans SemiBold"/>
      <p:regular r:id="rId201316"/>
    </p:embeddedFont>
    <p:embeddedFont>
      <p:font typeface="DM Sans Bold"/>
      <p:regular r:id="rId201317"/>
    </p:embeddedFont>
    <p:embeddedFont>
      <p:font typeface="DM Sans Black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en-us/security-updates/Securitybulletins/2017/ms17-010?utm_source=chatgpt.com" TargetMode="External"/><Relationship Id="rId2" Type="http://schemas.openxmlformats.org/officeDocument/2006/relationships/hyperlink" Target="https://www.microsoft.com/en-us/security/blog/2017/05/12/wannacrypt-ransomware-worm-targets-out-of-date-systems/?utm_source=chatgpt.com" TargetMode="External"/><Relationship Id="rId3" Type="http://schemas.openxmlformats.org/officeDocument/2006/relationships/hyperlink" Target="https://attack.mitre.org/software/S0366/?utm_source=chatgpt.com" TargetMode="External"/><Relationship Id="rId4" Type="http://schemas.openxmlformats.org/officeDocument/2006/relationships/hyperlink" Target="https://www.ncsc.gov.uk/guidance/ransomware-wannacry-guidance-enterprise-administrators-1?utm_source=chatgpt.com" TargetMode="External"/><Relationship Id="rId5" Type="http://schemas.openxmlformats.org/officeDocument/2006/relationships/hyperlink" Target="https://www.ncsc.gov.uk/files/NCSC-2017-Annual-Review.pdf?utm_source=chatgpt.com" TargetMode="Externa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2012255"/>
            <a:ext cx="6355993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WannaCry: The Ransomware Worm That Shook the World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4064794"/>
            <a:ext cx="6355993" cy="78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550"/>
              </a:spcAft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Cyber Security — Assignment 3 | Group 27 | Section C 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IIB2024028-Chauhan Palchhin Kamleshkumar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395909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WannaCry at a Glance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31908" y="2463701"/>
            <a:ext cx="2531602" cy="1455837"/>
          </a:xfrm>
          <a:prstGeom prst="roundRect">
            <a:avLst>
              <a:gd name="adj" fmla="val 520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8733" y="2650530"/>
            <a:ext cx="2157954" cy="315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📅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12 May 2017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18733" y="3146921"/>
            <a:ext cx="215795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Major global outbreak begins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43985" y="2463701"/>
            <a:ext cx="2531602" cy="1455837"/>
          </a:xfrm>
          <a:prstGeom prst="roundRect">
            <a:avLst>
              <a:gd name="adj" fmla="val 520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30809" y="2650530"/>
            <a:ext cx="2157954" cy="612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🌍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150+ Countries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530809" y="3443784"/>
            <a:ext cx="215795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Affected worldwide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1908" y="4100016"/>
            <a:ext cx="5243679" cy="1158974"/>
          </a:xfrm>
          <a:prstGeom prst="roundRect">
            <a:avLst>
              <a:gd name="adj" fmla="val 6543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733" y="4286845"/>
            <a:ext cx="4870031" cy="315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🪱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Worm + Ransomware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18733" y="4783237"/>
            <a:ext cx="4870031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Dual-threat propagation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22457" y="2423021"/>
            <a:ext cx="5243679" cy="1345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Type: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Ransomware + worm-like propagation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Platform: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Microsoft Windows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Exploited: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SMBv1 vulnerabilities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Exploit used for spreading: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EternalBlue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22457" y="3930452"/>
            <a:ext cx="524367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WannaCry combined ransomware with worm-like network propagation, making it particularly dangerous.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38969"/>
            <a:ext cx="10927878" cy="51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Was WannaCry So Dangerous?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175" y="2441079"/>
            <a:ext cx="6676362" cy="2702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4819" y="3016112"/>
            <a:ext cx="1491331" cy="75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Traditional Ransomware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624819" y="3841292"/>
            <a:ext cx="1491331" cy="71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click → Infection → Encryption → Ransom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10420" y="3232094"/>
            <a:ext cx="1491331" cy="504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WannaCry (Worm)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3610420" y="3804939"/>
            <a:ext cx="1491331" cy="539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Vulnerable system → Exploit → Infection → Automatic spread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06804" y="3142213"/>
            <a:ext cx="1491331" cy="504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Propagation Effect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706804" y="3715058"/>
            <a:ext cx="1491331" cy="71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Infects more systems → Rapid network-wide encryption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70609" y="1504057"/>
            <a:ext cx="2895428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Worm Difference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70609" y="1902023"/>
            <a:ext cx="2895428" cy="2967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950"/>
              </a:spcAft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ransomware requires a user to make a mistake — clicking a link, opening an attachment. WannaCry changed the equation entirely.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WannaCry could exploit vulnerable Windows systems through SMB and propagate across networks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automatically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Instead of one compromised computer remaining isolated, infection could move from machine to machine without any further human interaction.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70609" y="5025033"/>
            <a:ext cx="2895428" cy="1038423"/>
          </a:xfrm>
          <a:prstGeom prst="roundRect">
            <a:avLst>
              <a:gd name="adj" fmla="val 6390"/>
            </a:avLst>
          </a:prstGeom>
          <a:solidFill>
            <a:srgbClr val="45070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561" y="5235972"/>
            <a:ext cx="197440" cy="1579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83954" y="5188843"/>
            <a:ext cx="2224131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user interaction required — a single vulnerable machine on a network was enough.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2961"/>
            <a:ext cx="10927878" cy="56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Timeline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6086323" y="1407021"/>
            <a:ext cx="19050" cy="4216003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</p:sp>
      <p:sp>
        <p:nvSpPr>
          <p:cNvPr id="4" name="Shape 2"/>
          <p:cNvSpPr/>
          <p:nvPr/>
        </p:nvSpPr>
        <p:spPr>
          <a:xfrm>
            <a:off x="5405104" y="1591072"/>
            <a:ext cx="516222" cy="19050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</p:sp>
      <p:sp>
        <p:nvSpPr>
          <p:cNvPr id="5" name="Shape 3"/>
          <p:cNvSpPr/>
          <p:nvPr/>
        </p:nvSpPr>
        <p:spPr>
          <a:xfrm>
            <a:off x="5902277" y="1407021"/>
            <a:ext cx="387142" cy="38715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60020" y="1430784"/>
            <a:ext cx="271654" cy="339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31908" y="1466155"/>
            <a:ext cx="4603536" cy="28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14 March 2017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31908" y="1847453"/>
            <a:ext cx="4603536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Microsoft releases </a:t>
            </a:r>
            <a:pPr algn="r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MS17-010</a:t>
            </a:r>
            <a:pPr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the patch addressing SMB vulnerabilities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0369" y="2607370"/>
            <a:ext cx="516222" cy="19050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</p:sp>
      <p:sp>
        <p:nvSpPr>
          <p:cNvPr id="10" name="Shape 8"/>
          <p:cNvSpPr/>
          <p:nvPr/>
        </p:nvSpPr>
        <p:spPr>
          <a:xfrm>
            <a:off x="5902277" y="2423319"/>
            <a:ext cx="387142" cy="38715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0020" y="2447082"/>
            <a:ext cx="271654" cy="339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56251" y="2482453"/>
            <a:ext cx="4603536" cy="28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14 April 2017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956251" y="2863751"/>
            <a:ext cx="460353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EternalBlue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publicly released by Shadow Brokers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05104" y="3489226"/>
            <a:ext cx="516222" cy="19050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</p:sp>
      <p:sp>
        <p:nvSpPr>
          <p:cNvPr id="15" name="Shape 13"/>
          <p:cNvSpPr/>
          <p:nvPr/>
        </p:nvSpPr>
        <p:spPr>
          <a:xfrm>
            <a:off x="5902277" y="3305175"/>
            <a:ext cx="387142" cy="38715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0020" y="3328938"/>
            <a:ext cx="271654" cy="339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31908" y="3364309"/>
            <a:ext cx="4603536" cy="28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12 May 2017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31908" y="3745607"/>
            <a:ext cx="4603536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WannaCry outbreak begins</a:t>
            </a:r>
            <a:pPr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global spread and disruption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70369" y="4371181"/>
            <a:ext cx="516222" cy="19050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</p:sp>
      <p:sp>
        <p:nvSpPr>
          <p:cNvPr id="20" name="Shape 18"/>
          <p:cNvSpPr/>
          <p:nvPr/>
        </p:nvSpPr>
        <p:spPr>
          <a:xfrm>
            <a:off x="5902277" y="4187130"/>
            <a:ext cx="387142" cy="38715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0020" y="4210893"/>
            <a:ext cx="271654" cy="339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956251" y="4246265"/>
            <a:ext cx="4603536" cy="28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12–13 May 2017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6956251" y="4627563"/>
            <a:ext cx="4603536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Kill-switch domain registered — spread of original variant dramatically reduced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1908" y="5807472"/>
            <a:ext cx="10927878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Microsoft had released a security update addressing the relevant SMB vulnerabilities on March 14, 2017. The WannaCry outbreak occurred almost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two months later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critical lesson in patch management.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025723"/>
            <a:ext cx="10927878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What Vulnerability Did WannaCry Exploit?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664817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Vulnerability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31908" y="3142159"/>
            <a:ext cx="5243679" cy="2626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Vulnerability Class: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Software / Operating System Vulnerability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Specifically: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Windows SMBv1 Remote Code Execution vulnerabilities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Microsoft Security Bulletin: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MS17-010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Protocol: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SMBv1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Attack capability: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Remote Code Execution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Exploit used for propagation: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EternalBlue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93219" y="2849860"/>
            <a:ext cx="4972918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vulnerable computer running SMBv1 could receive specially crafted network traffic that caused code to execute on the target system — with no authentication required.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2457" y="2687439"/>
            <a:ext cx="25399" cy="1480542"/>
          </a:xfrm>
          <a:prstGeom prst="roundRect">
            <a:avLst>
              <a:gd name="adj" fmla="val 50001"/>
            </a:avLst>
          </a:prstGeom>
          <a:solidFill>
            <a:srgbClr val="C91313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60586"/>
            <a:ext cx="10927878" cy="454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What Is SMB?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293019"/>
            <a:ext cx="6985123" cy="36563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60518" y="2471936"/>
            <a:ext cx="3605618" cy="22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Server Message Block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60518" y="2805013"/>
            <a:ext cx="3605618" cy="1266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SMB</a:t>
            </a:r>
            <a:pPr algn="l"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a network communication protocol used for sharing files, printers, and other resources between Windows systems on a network.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SMB itself is completely legitimate functionality. The problem was not that SMB was malicious — the problem was the 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older SMBv1 implementation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31908" y="5477867"/>
            <a:ext cx="5411057" cy="819547"/>
          </a:xfrm>
          <a:prstGeom prst="roundRect">
            <a:avLst>
              <a:gd name="adj" fmla="val 7084"/>
            </a:avLst>
          </a:prstGeom>
          <a:solidFill>
            <a:srgbClr val="0A0A0A">
              <a:alpha val="95000"/>
            </a:srgbClr>
          </a:solidFill>
          <a:ln w="19050">
            <a:solidFill>
              <a:srgbClr val="8D24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9166" y="5635129"/>
            <a:ext cx="5096541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Legitimate Uses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9166" y="5944989"/>
            <a:ext cx="5096541" cy="19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File sharing, printer sharing, accessing network resources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48730" y="5477867"/>
            <a:ext cx="5411057" cy="819547"/>
          </a:xfrm>
          <a:prstGeom prst="roundRect">
            <a:avLst>
              <a:gd name="adj" fmla="val 7084"/>
            </a:avLst>
          </a:prstGeom>
          <a:solidFill>
            <a:srgbClr val="0A0A0A">
              <a:alpha val="95000"/>
            </a:srgbClr>
          </a:solidFill>
          <a:ln w="19050">
            <a:solidFill>
              <a:srgbClr val="8D24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5988" y="5635129"/>
            <a:ext cx="5096541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The Problem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5988" y="5944989"/>
            <a:ext cx="5096541" cy="19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older 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SMBv1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implementation contained vulnerabilities exploitable remotely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71189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MS17-010 vs EternalBlue vs WannaCry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666875"/>
            <a:ext cx="5463939" cy="7221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383" y="2569468"/>
            <a:ext cx="510299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SMBv1 Vulnerabilities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12383" y="2974578"/>
            <a:ext cx="510299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underlying flaw in Windows SMB protocol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666875"/>
            <a:ext cx="5463939" cy="7221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6322" y="2569468"/>
            <a:ext cx="510299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MS17-010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76322" y="2974578"/>
            <a:ext cx="510299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Patch / Fix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Microsoft's security bulletin and update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3443982"/>
            <a:ext cx="5463939" cy="7221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2383" y="4346575"/>
            <a:ext cx="510299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EternalBlue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12383" y="4751685"/>
            <a:ext cx="510299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Exploit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took advantage of the SMB vulnerability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443982"/>
            <a:ext cx="5463939" cy="7221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76322" y="4346575"/>
            <a:ext cx="510299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WannaCry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76322" y="4751685"/>
            <a:ext cx="510299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Malware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used EternalBlue as its propagation mechanism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31908" y="5424190"/>
            <a:ext cx="10927878" cy="721916"/>
          </a:xfrm>
          <a:prstGeom prst="roundRect">
            <a:avLst>
              <a:gd name="adj" fmla="val 10504"/>
            </a:avLst>
          </a:prstGeom>
          <a:solidFill>
            <a:srgbClr val="740B0B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383" y="5682258"/>
            <a:ext cx="225618" cy="18047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18475" y="5649714"/>
            <a:ext cx="10770422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Remember: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Vulnerability → Patch → Exploit → Malware.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These terms are easy to confuse but are not the same thing.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60586"/>
            <a:ext cx="10927878" cy="436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Complete Exploit Chain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2408634"/>
            <a:ext cx="6989885" cy="26229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9632" y="4282570"/>
            <a:ext cx="1054266" cy="427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WannaCry Executes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950969" y="4175606"/>
            <a:ext cx="1054266" cy="64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Remote Code Exec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29526" y="4282570"/>
            <a:ext cx="1054266" cy="427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EternalBlue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308084" y="4282570"/>
            <a:ext cx="1054265" cy="427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SMBv1 Attack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57757" y="4282570"/>
            <a:ext cx="1054266" cy="427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Vulnerable Windows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1589" y="1252339"/>
            <a:ext cx="265106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51589" y="1458615"/>
            <a:ext cx="3614449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1" name="Text 8"/>
          <p:cNvSpPr/>
          <p:nvPr/>
        </p:nvSpPr>
        <p:spPr>
          <a:xfrm>
            <a:off x="7951589" y="1562993"/>
            <a:ext cx="361444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Vulnerable Windows System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951589" y="1878310"/>
            <a:ext cx="3614449" cy="18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SMBv1 service provides attack surface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951589" y="2258913"/>
            <a:ext cx="265106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51589" y="2465189"/>
            <a:ext cx="3614449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5" name="Text 12"/>
          <p:cNvSpPr/>
          <p:nvPr/>
        </p:nvSpPr>
        <p:spPr>
          <a:xfrm>
            <a:off x="7951589" y="2569567"/>
            <a:ext cx="361444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EternalBlue Exploits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951589" y="2884884"/>
            <a:ext cx="3614449" cy="18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Remote Code Execution achieved on target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951589" y="3265488"/>
            <a:ext cx="265106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951589" y="3471763"/>
            <a:ext cx="3614449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9" name="Text 16"/>
          <p:cNvSpPr/>
          <p:nvPr/>
        </p:nvSpPr>
        <p:spPr>
          <a:xfrm>
            <a:off x="7951589" y="3576141"/>
            <a:ext cx="361444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WannaCry Executes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951589" y="3891459"/>
            <a:ext cx="3614449" cy="18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Network/System Discovery begins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951589" y="4272062"/>
            <a:ext cx="265106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951589" y="4478338"/>
            <a:ext cx="3614449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23" name="Text 20"/>
          <p:cNvSpPr/>
          <p:nvPr/>
        </p:nvSpPr>
        <p:spPr>
          <a:xfrm>
            <a:off x="7951589" y="4582716"/>
            <a:ext cx="361444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SMB Propagation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951589" y="4898033"/>
            <a:ext cx="3614449" cy="18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Other vulnerable systems become infected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951589" y="5278636"/>
            <a:ext cx="265106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951589" y="5484912"/>
            <a:ext cx="3614449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27" name="Text 24"/>
          <p:cNvSpPr/>
          <p:nvPr/>
        </p:nvSpPr>
        <p:spPr>
          <a:xfrm>
            <a:off x="7951589" y="5589290"/>
            <a:ext cx="361444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Encryption + Ransom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7951589" y="5904607"/>
            <a:ext cx="3614449" cy="18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Files encrypted, ransom demand presented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650577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Stage 1: Initial Access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1695748"/>
            <a:ext cx="2957736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What We Know — and What We Don't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03794" y="2469952"/>
            <a:ext cx="2957736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Microsoft stated that it did not have evidence establishing the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exact initial entry vector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What is much more firmly established is what happened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malware had access to vulnerable systems.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74555" y="4569023"/>
            <a:ext cx="2686975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precise initial vector remains uncertain; SMB exploitation was central to its subsequent propagation."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03794" y="4406602"/>
            <a:ext cx="25399" cy="1480542"/>
          </a:xfrm>
          <a:prstGeom prst="roundRect">
            <a:avLst>
              <a:gd name="adj" fmla="val 50001"/>
            </a:avLst>
          </a:prstGeom>
          <a:solidFill>
            <a:srgbClr val="C9131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8400" y="1718370"/>
            <a:ext cx="2957736" cy="20527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15871" y="1924248"/>
            <a:ext cx="2444391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Possible Scenario 1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8915871" y="2698452"/>
            <a:ext cx="2444391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 infection through a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vulnerable SMB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port exposed to the internet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08400" y="3951585"/>
            <a:ext cx="2957736" cy="20527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15871" y="4157464"/>
            <a:ext cx="2444391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Possible Scenario 2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915871" y="4931668"/>
            <a:ext cx="2444391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Social engineering / email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followed by activation of the worm capability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6491"/>
            <a:ext cx="10927878" cy="51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Stage 2: Exploitation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31908" y="1438374"/>
            <a:ext cx="349043" cy="34905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3947" y="1459805"/>
            <a:ext cx="244965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14199" y="1491655"/>
            <a:ext cx="3096441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Target system identified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4199" y="1880096"/>
            <a:ext cx="3096441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SMBv1 service located on the network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1908" y="2377480"/>
            <a:ext cx="349043" cy="34905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947" y="2398911"/>
            <a:ext cx="244965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14199" y="2430760"/>
            <a:ext cx="3096441" cy="510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Specially crafted packet sent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4199" y="3074392"/>
            <a:ext cx="3096441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Unauthenticated network request exploits the vulnerability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1908" y="3802559"/>
            <a:ext cx="349043" cy="34905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947" y="3823990"/>
            <a:ext cx="244965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114199" y="3855839"/>
            <a:ext cx="3096441" cy="510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Remote Code Execution achieved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4199" y="4499471"/>
            <a:ext cx="3096441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Attacker gains ability to execute code on the target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1908" y="5227638"/>
            <a:ext cx="349043" cy="34905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47" y="5249069"/>
            <a:ext cx="244965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114199" y="5280918"/>
            <a:ext cx="3096441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WannaCry runs on target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4199" y="5669359"/>
            <a:ext cx="3096441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 vulnerability becomes a propagation mechanism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5400" y="1356618"/>
            <a:ext cx="5560179" cy="404385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95400" y="5550396"/>
            <a:ext cx="6970637" cy="69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unauthenticated attacker could send a specially crafted packet to a targeted SMBv1 server. Successful exploitation gave the attacker the ability to execute code on the target, allowing the malware to turn a </a:t>
            </a:r>
            <a:pPr algn="l"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network vulnerability into a mechanism for propagation</a:t>
            </a:r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4152"/>
            <a:ext cx="10927878" cy="57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Stage 3: Propagation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534120"/>
            <a:ext cx="6205184" cy="34904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7341" y="1496020"/>
            <a:ext cx="4228697" cy="2080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1000"/>
              </a:lnSpc>
              <a:spcAft>
                <a:spcPts val="1200"/>
              </a:spcAft>
              <a:buNone/>
            </a:pPr>
            <a:endParaRPr lang="en-US" sz="13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Unlike traditional ransomware that requires user interaction, WannaCry automatically discovers vulnerable systems on the network and infects them without any human involvement. Each newly infected system becomes a new propagation point, creating exponential spread across the network.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1908" y="5469235"/>
            <a:ext cx="10927878" cy="345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44444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THIS IS WHY IT WAS A WORM</a:t>
            </a:r>
            <a:endParaRPr lang="en-US" sz="2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127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Stage 4: Ransomware Payload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1466255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 WannaCry successfully exploits a vulnerable system, it proceeds to execute its ransomware payload, initiating a sequence of actions designed to encrypt files and demand payment.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94" y="2247205"/>
            <a:ext cx="10924306" cy="40994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60444" y="5175992"/>
            <a:ext cx="1647719" cy="668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Payment Demand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383867" y="5175992"/>
            <a:ext cx="1647719" cy="668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Ransom Note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318576" y="5342990"/>
            <a:ext cx="1647719" cy="334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Encrypted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253284" y="5175992"/>
            <a:ext cx="1647719" cy="668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Inaccessible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42850" y="5342990"/>
            <a:ext cx="1647719" cy="334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Execute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4945"/>
            <a:ext cx="10927878" cy="56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Kill Switch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511399"/>
            <a:ext cx="6749187" cy="37965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4293" y="1474490"/>
            <a:ext cx="3551744" cy="232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150"/>
              </a:spcAft>
              <a:buNone/>
            </a:pPr>
            <a:endParaRPr lang="en-US" sz="1350" dirty="0"/>
          </a:p>
          <a:p>
            <a:pPr algn="l" indent="0" marL="0">
              <a:lnSpc>
                <a:spcPct val="130000"/>
              </a:lnSpc>
              <a:spcAft>
                <a:spcPts val="1150"/>
              </a:spcAft>
              <a:buNone/>
            </a:pPr>
            <a:endParaRPr lang="en-US" sz="1350" dirty="0"/>
          </a:p>
          <a:p>
            <a:pPr algn="l" indent="0" marL="0">
              <a:lnSpc>
                <a:spcPct val="130000"/>
              </a:lnSpc>
              <a:spcAft>
                <a:spcPts val="1150"/>
              </a:spcAft>
              <a:buNone/>
            </a:pP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While the kill switch stopped the worm from spreading, it did NOT decrypt files that were already encrypted. Victims' data remained locked even after the spread was halted.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31908" y="5676801"/>
            <a:ext cx="10927878" cy="666254"/>
          </a:xfrm>
          <a:prstGeom prst="roundRect">
            <a:avLst>
              <a:gd name="adj" fmla="val 10848"/>
            </a:avLst>
          </a:prstGeom>
          <a:solidFill>
            <a:srgbClr val="740B0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49" y="5910957"/>
            <a:ext cx="215101" cy="1720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1091" y="5883771"/>
            <a:ext cx="10806239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Kill switch ≠ decryption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5304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Attacker Objective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1219101"/>
            <a:ext cx="10927878" cy="513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44444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Financial Gain </a:t>
            </a:r>
            <a:pPr algn="ctr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💰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31908" y="2003028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primary and sole objective behind the WannaCry attack was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financial gain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 attackers aimed to extract money from victims through a sophisticated extortion scheme.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1908" y="2783979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480" y="2808932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18574" y="2845991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Encrypt Victim Data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218574" y="3251101"/>
            <a:ext cx="476446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WannaCry's core function was to encrypt a wide range of files on infected systems, rendering them inaccessible to users and organizations.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8656" y="2783979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9228" y="2808932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95322" y="2845991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Demand Ransom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795322" y="3251101"/>
            <a:ext cx="476446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encryption, a ransom note was displayed, demanding payment, typically in Bitcoin, in exchange for a decryption key.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1908" y="4478933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480" y="4503886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18574" y="4540945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Request Bitcoin Payment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1218574" y="4946055"/>
            <a:ext cx="476446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Bitcoin was chosen due to its perceived anonymity and the irreversibility of transactions, making it difficult for law enforcement to trace and recover funds.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08656" y="4478933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9228" y="4503886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95322" y="4540945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Attempt to Monetize Infections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795322" y="4946055"/>
            <a:ext cx="476446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worm's rapid, automated spread was designed to maximize the number of infections, increasing the potential pool of victims willing to pay the ransom.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1225352"/>
            <a:ext cx="4832031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Global Impact + NHS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1908" y="2864445"/>
            <a:ext cx="1668421" cy="612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🌍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Global Impact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1908" y="3657699"/>
            <a:ext cx="1668421" cy="179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150+ countries affected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Hundreds of thousands of systems infected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7199" y="2864445"/>
            <a:ext cx="2722990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NHS Impact (UK National Health Service)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2747199" y="3935512"/>
            <a:ext cx="2722990" cy="163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 NHS trusts and Foundation Trusts affected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Ambulances diverted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Operations cancelled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Patient services disrupted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4648"/>
            <a:ext cx="10927878" cy="5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How Could We Have Stopped It?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31908" y="1388666"/>
            <a:ext cx="10927878" cy="52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Preventative measures and defenses against WannaCry focused on mitigating known vulnerabilities and improving incident response capabilities.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2091829"/>
          <a:ext cx="9143771" cy="914400"/>
        </p:xfrm>
        <a:graphic>
          <a:graphicData uri="http://schemas.openxmlformats.org/drawingml/2006/table">
            <a:tbl>
              <a:tblPr/>
              <a:tblGrid>
                <a:gridCol w="5463939"/>
                <a:gridCol w="5463939"/>
              </a:tblGrid>
              <a:tr h="468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Weakness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Defense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Unpatched SMB vulnerability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Apply MS17-010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SMBv1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Disable where possible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Network exposure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Restrict unnecessary SMB access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Vulnerable legacy systems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Upgrade/isolate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Worm propagation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Network segmentation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Ransomware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Offline/isolated backups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Malware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Updated endpoint protection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Poor visibility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Monitoring + incident response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9263" marR="169263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684933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Final Verdict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350988"/>
            <a:ext cx="10927878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WannaCry Was More Than Ransomware</a:t>
            </a:r>
            <a:endParaRPr lang="en-US" sz="2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908" y="3096816"/>
            <a:ext cx="451335" cy="451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08861" y="3096816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Known vulnerability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8656" y="3096816"/>
            <a:ext cx="451335" cy="4513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85609" y="3096816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Remote exploitation</a:t>
            </a:r>
            <a:endParaRPr lang="en-US" sz="1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3909219"/>
            <a:ext cx="451335" cy="45134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08861" y="3909219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Worm-like propagation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8656" y="3909219"/>
            <a:ext cx="451335" cy="45134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85609" y="3909219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File encryption</a:t>
            </a:r>
            <a:endParaRPr lang="en-US" sz="18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908" y="4721622"/>
            <a:ext cx="451335" cy="45134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08861" y="4721622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Ransom demand</a:t>
            </a:r>
            <a:endParaRPr lang="en-US" sz="18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08656" y="4721622"/>
            <a:ext cx="451335" cy="45134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885609" y="4721622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Global disruption</a:t>
            </a:r>
            <a:endParaRPr lang="en-US" sz="1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2102941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Sources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3057922"/>
            <a:ext cx="10927878" cy="1697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  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Microsoft — MS17-010 Security Bulletin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u="sng" dirty="0">
                <a:solidFill>
                  <a:srgbClr val="C9131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MS17-010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Microsoft Security Blog — WannaCrypt ransomware worm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u="sng" dirty="0">
                <a:solidFill>
                  <a:srgbClr val="C9131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WannaCrypt analysis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MITRE ATT&amp;CK — WannaCry S0366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u="sng" dirty="0">
                <a:solidFill>
                  <a:srgbClr val="C9131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MITRE ATT&amp;CK WannaCry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UK NCSC — WannaCry guidance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u="sng" dirty="0">
                <a:solidFill>
                  <a:srgbClr val="C9131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NCSC WannaCry guidance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UK NCSC — 2017 Annual Review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u="sng" dirty="0">
                <a:solidFill>
                  <a:srgbClr val="C9131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NCSC 2017 Annual Review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2510036"/>
            <a:ext cx="10927878" cy="1187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Thank You</a:t>
            </a:r>
            <a:endParaRPr lang="en-US" sz="7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C91313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2026-09-07T17:26:12Z</dcterms:created>
  <dcterms:modified xsi:type="dcterms:W3CDTF">2026-09-07T17:26:12Z</dcterms:modified>
</cp:coreProperties>
</file>